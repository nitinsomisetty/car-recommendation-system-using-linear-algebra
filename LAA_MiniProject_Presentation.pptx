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FA8C65E-12A4-40EA-849A-CC50BDAEF78D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E5D35CF-433C-404B-B35A-09C28D1328A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027425D-9A95-4F62-B38B-D340224D070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1645943-843A-408E-9279-403A2FD8090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8FD64BC-9A9E-4185-BA0A-263E484A91E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383AE19-BEFB-4837-BEFE-4F53B7BAAFB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A2D4DE4-808F-435B-B53A-CF6323B643F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F43AEFC-8817-4C03-908E-38EA9641E38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35BD70B-FE13-460C-9282-5BF0D27CB53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E7FAFE5-B91A-4869-B720-D905D1A8B1C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319680" cy="514332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109728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Vehicle Recommendation Engine</a:t>
            </a:r>
            <a:endParaRPr b="0" lang="en-IN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22860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4fc3f7"/>
                </a:solidFill>
                <a:latin typeface="Calibri"/>
                <a:ea typeface="Calibri"/>
              </a:rPr>
              <a:t>using QR Decomposition, Eigen-analysis &amp; Least Squares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48640" y="2926080"/>
            <a:ext cx="3200040" cy="36360"/>
          </a:xfrm>
          <a:prstGeom prst="rect">
            <a:avLst/>
          </a:prstGeom>
          <a:solidFill>
            <a:srgbClr val="8aa0c8"/>
          </a:solidFill>
          <a:ln w="12700">
            <a:solidFill>
              <a:srgbClr val="8aa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31089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a0c8"/>
                </a:solidFill>
                <a:latin typeface="Calibri"/>
                <a:ea typeface="Calibri"/>
              </a:rPr>
              <a:t>UE24MA241B – Linear Algebra and Its Applications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48640" y="35661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a0c8"/>
                </a:solidFill>
                <a:latin typeface="Calibri"/>
                <a:ea typeface="Calibri"/>
              </a:rPr>
              <a:t>PES University  |  Department of Computer Science &amp; Engineering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48640" y="44805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aa0c8"/>
                </a:solidFill>
                <a:latin typeface="Calibri"/>
                <a:ea typeface="Calibri"/>
              </a:rPr>
              <a:t>Dataset: CarDekho  |  ~15,000 entries  |  Python + NumPy + SymPy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  <a:ea typeface="Calibri"/>
              </a:rPr>
              <a:t>What We Built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57200" y="7772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2d4a8a"/>
                </a:solidFill>
                <a:latin typeface="Calibri"/>
                <a:ea typeface="Calibri"/>
              </a:rPr>
              <a:t>Given a user's preferences, recommend the top 5 most similar cars using Linear Algebra.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320040" y="1417320"/>
            <a:ext cx="1005480" cy="776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  <a:effectLst>
            <a:outerShdw algn="bl" blurRad="5076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320040" y="1417320"/>
            <a:ext cx="100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Real-World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Data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1325880" y="1805760"/>
            <a:ext cx="10944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1435680" y="1417320"/>
            <a:ext cx="1005480" cy="7768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round/>
          </a:ln>
          <a:effectLst>
            <a:outerShdw algn="bl" blurRad="5076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1435680" y="1417320"/>
            <a:ext cx="100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Matrix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Representation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2441160" y="1805760"/>
            <a:ext cx="10980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2551320" y="1417320"/>
            <a:ext cx="1005480" cy="7768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round/>
          </a:ln>
          <a:effectLst>
            <a:outerShdw algn="bl" blurRad="5076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2551320" y="1417320"/>
            <a:ext cx="100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Matrix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Simplification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3556800" y="1805760"/>
            <a:ext cx="10980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3666600" y="1417320"/>
            <a:ext cx="1005480" cy="776880"/>
          </a:xfrm>
          <a:prstGeom prst="rect">
            <a:avLst/>
          </a:prstGeom>
          <a:solidFill>
            <a:srgbClr val="1a7bbc"/>
          </a:solidFill>
          <a:ln w="12700">
            <a:solidFill>
              <a:srgbClr val="1a7bbc"/>
            </a:solidFill>
            <a:round/>
          </a:ln>
          <a:effectLst>
            <a:outerShdw algn="bl" blurRad="5076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3666600" y="1417320"/>
            <a:ext cx="100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Remove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Redundancy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4672440" y="1805760"/>
            <a:ext cx="10980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4782240" y="1417320"/>
            <a:ext cx="1005480" cy="776880"/>
          </a:xfrm>
          <a:prstGeom prst="rect">
            <a:avLst/>
          </a:prstGeom>
          <a:solidFill>
            <a:srgbClr val="0d9bd1"/>
          </a:solidFill>
          <a:ln w="12700">
            <a:solidFill>
              <a:srgbClr val="0d9bd1"/>
            </a:solidFill>
            <a:round/>
          </a:ln>
          <a:effectLst>
            <a:outerShdw algn="bl" blurRad="5076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4782240" y="1417320"/>
            <a:ext cx="100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Orthogonalization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(QR)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5788080" y="1805760"/>
            <a:ext cx="10980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5897880" y="1417320"/>
            <a:ext cx="1005480" cy="776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5076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5897880" y="1417320"/>
            <a:ext cx="100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Projection &amp;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Least Squares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6903720" y="1805760"/>
            <a:ext cx="10944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7013520" y="1417320"/>
            <a:ext cx="1005480" cy="776880"/>
          </a:xfrm>
          <a:prstGeom prst="rect">
            <a:avLst/>
          </a:prstGeom>
          <a:solidFill>
            <a:srgbClr val="02a898"/>
          </a:solidFill>
          <a:ln w="12700">
            <a:solidFill>
              <a:srgbClr val="02a898"/>
            </a:solidFill>
            <a:round/>
          </a:ln>
          <a:effectLst>
            <a:outerShdw algn="bl" blurRad="5076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7013520" y="1417320"/>
            <a:ext cx="100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Eigenvalue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3"/>
          <p:cNvSpPr/>
          <p:nvPr/>
        </p:nvSpPr>
        <p:spPr>
          <a:xfrm>
            <a:off x="8019000" y="1805760"/>
            <a:ext cx="10980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4"/>
          <p:cNvSpPr/>
          <p:nvPr/>
        </p:nvSpPr>
        <p:spPr>
          <a:xfrm>
            <a:off x="8129160" y="1417320"/>
            <a:ext cx="1005480" cy="776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  <a:effectLst>
            <a:outerShdw algn="bl" blurRad="5076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5"/>
          <p:cNvSpPr/>
          <p:nvPr/>
        </p:nvSpPr>
        <p:spPr>
          <a:xfrm>
            <a:off x="8129160" y="1417320"/>
            <a:ext cx="100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Recommendations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457200" y="2423160"/>
            <a:ext cx="191988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457200" y="245052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Calibri"/>
              </a:rPr>
              <a:t>15,411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457200" y="27889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aa0c8"/>
                </a:solidFill>
                <a:latin typeface="Calibri"/>
                <a:ea typeface="Calibri"/>
              </a:rPr>
              <a:t>Cars in dataset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2606040" y="2423160"/>
            <a:ext cx="191988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0"/>
          <p:cNvSpPr/>
          <p:nvPr/>
        </p:nvSpPr>
        <p:spPr>
          <a:xfrm>
            <a:off x="2606040" y="245052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Calibri"/>
              </a:rPr>
              <a:t>10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2606040" y="27889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aa0c8"/>
                </a:solidFill>
                <a:latin typeface="Calibri"/>
                <a:ea typeface="Calibri"/>
              </a:rPr>
              <a:t>Features used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32"/>
          <p:cNvSpPr/>
          <p:nvPr/>
        </p:nvSpPr>
        <p:spPr>
          <a:xfrm>
            <a:off x="4754880" y="2423160"/>
            <a:ext cx="191988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3"/>
          <p:cNvSpPr/>
          <p:nvPr/>
        </p:nvSpPr>
        <p:spPr>
          <a:xfrm>
            <a:off x="4754880" y="245052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Calibri"/>
              </a:rPr>
              <a:t>8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4"/>
          <p:cNvSpPr/>
          <p:nvPr/>
        </p:nvSpPr>
        <p:spPr>
          <a:xfrm>
            <a:off x="4754880" y="27889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aa0c8"/>
                </a:solidFill>
                <a:latin typeface="Calibri"/>
                <a:ea typeface="Calibri"/>
              </a:rPr>
              <a:t>LA pipeline stages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35"/>
          <p:cNvSpPr/>
          <p:nvPr/>
        </p:nvSpPr>
        <p:spPr>
          <a:xfrm>
            <a:off x="6903720" y="2423160"/>
            <a:ext cx="191988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6"/>
          <p:cNvSpPr/>
          <p:nvPr/>
        </p:nvSpPr>
        <p:spPr>
          <a:xfrm>
            <a:off x="6903720" y="245052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Calibri"/>
              </a:rPr>
              <a:t>Top 5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7"/>
          <p:cNvSpPr/>
          <p:nvPr/>
        </p:nvSpPr>
        <p:spPr>
          <a:xfrm>
            <a:off x="6903720" y="27889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aa0c8"/>
                </a:solidFill>
                <a:latin typeface="Calibri"/>
                <a:ea typeface="Calibri"/>
              </a:rPr>
              <a:t>Recommendations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8"/>
          <p:cNvSpPr/>
          <p:nvPr/>
        </p:nvSpPr>
        <p:spPr>
          <a:xfrm>
            <a:off x="457200" y="3383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d4a8a"/>
                </a:solidFill>
                <a:latin typeface="Calibri"/>
                <a:ea typeface="Calibri"/>
              </a:rPr>
              <a:t>CarDekho Dataset  →  Cleaned &amp; encoded  →  10 independent features  →  Orthogonalized  →  User projected  →  Top 5 returned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0"/>
            <a:ext cx="273960" cy="51433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e2761"/>
                </a:solidFill>
                <a:latin typeface="Calibri"/>
                <a:ea typeface="Calibri"/>
              </a:rPr>
              <a:t>Step 1 &amp; 2: Data → Matrix Representation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457200" y="8686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d4a8a"/>
                </a:solidFill>
                <a:latin typeface="Calibri"/>
                <a:ea typeface="Calibri"/>
              </a:rPr>
              <a:t>Raw CarDekho CSV (in matrix form)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457200" y="1261800"/>
            <a:ext cx="3657240" cy="209880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502920" y="126180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62828"/>
                </a:solidFill>
                <a:latin typeface="Consolas"/>
                <a:ea typeface="Consolas"/>
              </a:rPr>
              <a:t>✕  </a:t>
            </a:r>
            <a:r>
              <a:rPr b="0" lang="en-US" sz="950" spc="-1" strike="noStrike">
                <a:solidFill>
                  <a:srgbClr val="c62828"/>
                </a:solidFill>
                <a:latin typeface="Consolas"/>
                <a:ea typeface="Consolas"/>
              </a:rPr>
              <a:t>car_name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457200" y="1499760"/>
            <a:ext cx="3657240" cy="209880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502920" y="149976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62828"/>
                </a:solidFill>
                <a:latin typeface="Consolas"/>
                <a:ea typeface="Consolas"/>
              </a:rPr>
              <a:t>✕  </a:t>
            </a:r>
            <a:r>
              <a:rPr b="0" lang="en-US" sz="950" spc="-1" strike="noStrike">
                <a:solidFill>
                  <a:srgbClr val="c62828"/>
                </a:solidFill>
                <a:latin typeface="Consolas"/>
                <a:ea typeface="Consolas"/>
              </a:rPr>
              <a:t>brand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457200" y="1737360"/>
            <a:ext cx="3657240" cy="209880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502920" y="173736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62828"/>
                </a:solidFill>
                <a:latin typeface="Consolas"/>
                <a:ea typeface="Consolas"/>
              </a:rPr>
              <a:t>✕  </a:t>
            </a:r>
            <a:r>
              <a:rPr b="0" lang="en-US" sz="950" spc="-1" strike="noStrike">
                <a:solidFill>
                  <a:srgbClr val="c62828"/>
                </a:solidFill>
                <a:latin typeface="Consolas"/>
                <a:ea typeface="Consolas"/>
              </a:rPr>
              <a:t>model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457200" y="197496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502920" y="197496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vehicle_age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457200" y="221292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502920" y="221292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km_driven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457200" y="245052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502920" y="245052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seller_type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457200" y="268848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502920" y="268848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fuel_type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457200" y="292608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502920" y="292608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transmission_type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457200" y="316368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502920" y="316368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mileage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457200" y="340164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3"/>
          <p:cNvSpPr/>
          <p:nvPr/>
        </p:nvSpPr>
        <p:spPr>
          <a:xfrm>
            <a:off x="502920" y="340164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engine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457200" y="363924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502920" y="363924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max_power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6"/>
          <p:cNvSpPr/>
          <p:nvPr/>
        </p:nvSpPr>
        <p:spPr>
          <a:xfrm>
            <a:off x="457200" y="387720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7"/>
          <p:cNvSpPr/>
          <p:nvPr/>
        </p:nvSpPr>
        <p:spPr>
          <a:xfrm>
            <a:off x="502920" y="387720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seats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8"/>
          <p:cNvSpPr/>
          <p:nvPr/>
        </p:nvSpPr>
        <p:spPr>
          <a:xfrm>
            <a:off x="457200" y="4114800"/>
            <a:ext cx="3657240" cy="209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9"/>
          <p:cNvSpPr/>
          <p:nvPr/>
        </p:nvSpPr>
        <p:spPr>
          <a:xfrm>
            <a:off x="502920" y="4114800"/>
            <a:ext cx="3565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e2761"/>
                </a:solidFill>
                <a:latin typeface="Consolas"/>
                <a:ea typeface="Consolas"/>
              </a:rPr>
              <a:t>selling_price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0"/>
          <p:cNvSpPr/>
          <p:nvPr/>
        </p:nvSpPr>
        <p:spPr>
          <a:xfrm>
            <a:off x="4663440" y="8686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d4a8a"/>
                </a:solidFill>
                <a:latin typeface="Calibri"/>
                <a:ea typeface="Calibri"/>
              </a:rPr>
              <a:t>After Encoding → Feature Matrix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1"/>
          <p:cNvSpPr/>
          <p:nvPr/>
        </p:nvSpPr>
        <p:spPr>
          <a:xfrm>
            <a:off x="4663440" y="12618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Shape: 15,411 rows × 10 columns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2"/>
          <p:cNvSpPr/>
          <p:nvPr/>
        </p:nvSpPr>
        <p:spPr>
          <a:xfrm>
            <a:off x="4663440" y="162756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3"/>
          <p:cNvSpPr/>
          <p:nvPr/>
        </p:nvSpPr>
        <p:spPr>
          <a:xfrm>
            <a:off x="4709160" y="162756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vehicle_age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4"/>
          <p:cNvSpPr/>
          <p:nvPr/>
        </p:nvSpPr>
        <p:spPr>
          <a:xfrm>
            <a:off x="4663440" y="186552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5"/>
          <p:cNvSpPr/>
          <p:nvPr/>
        </p:nvSpPr>
        <p:spPr>
          <a:xfrm>
            <a:off x="4709160" y="186552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km_driven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6"/>
          <p:cNvSpPr/>
          <p:nvPr/>
        </p:nvSpPr>
        <p:spPr>
          <a:xfrm>
            <a:off x="4663440" y="210312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7"/>
          <p:cNvSpPr/>
          <p:nvPr/>
        </p:nvSpPr>
        <p:spPr>
          <a:xfrm>
            <a:off x="4709160" y="210312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mileage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8"/>
          <p:cNvSpPr/>
          <p:nvPr/>
        </p:nvSpPr>
        <p:spPr>
          <a:xfrm>
            <a:off x="4663440" y="234072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9"/>
          <p:cNvSpPr/>
          <p:nvPr/>
        </p:nvSpPr>
        <p:spPr>
          <a:xfrm>
            <a:off x="4709160" y="234072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engine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0"/>
          <p:cNvSpPr/>
          <p:nvPr/>
        </p:nvSpPr>
        <p:spPr>
          <a:xfrm>
            <a:off x="4663440" y="257868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1"/>
          <p:cNvSpPr/>
          <p:nvPr/>
        </p:nvSpPr>
        <p:spPr>
          <a:xfrm>
            <a:off x="4709160" y="257868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max_power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2"/>
          <p:cNvSpPr/>
          <p:nvPr/>
        </p:nvSpPr>
        <p:spPr>
          <a:xfrm>
            <a:off x="4663440" y="281628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3"/>
          <p:cNvSpPr/>
          <p:nvPr/>
        </p:nvSpPr>
        <p:spPr>
          <a:xfrm>
            <a:off x="4709160" y="281628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seats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4"/>
          <p:cNvSpPr/>
          <p:nvPr/>
        </p:nvSpPr>
        <p:spPr>
          <a:xfrm>
            <a:off x="4663440" y="305424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5"/>
          <p:cNvSpPr/>
          <p:nvPr/>
        </p:nvSpPr>
        <p:spPr>
          <a:xfrm>
            <a:off x="4709160" y="305424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selling_price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6"/>
          <p:cNvSpPr/>
          <p:nvPr/>
        </p:nvSpPr>
        <p:spPr>
          <a:xfrm>
            <a:off x="4663440" y="329184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7"/>
          <p:cNvSpPr/>
          <p:nvPr/>
        </p:nvSpPr>
        <p:spPr>
          <a:xfrm>
            <a:off x="4709160" y="329184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seller_type_Dealer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8"/>
          <p:cNvSpPr/>
          <p:nvPr/>
        </p:nvSpPr>
        <p:spPr>
          <a:xfrm>
            <a:off x="4663440" y="352944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9"/>
          <p:cNvSpPr/>
          <p:nvPr/>
        </p:nvSpPr>
        <p:spPr>
          <a:xfrm>
            <a:off x="4709160" y="352944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fuel_type_Diesel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4709160" y="376740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Text 53"/>
          <p:cNvSpPr/>
          <p:nvPr/>
        </p:nvSpPr>
        <p:spPr>
          <a:xfrm>
            <a:off x="4713840" y="375552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Shape 54"/>
          <p:cNvSpPr/>
          <p:nvPr/>
        </p:nvSpPr>
        <p:spPr>
          <a:xfrm>
            <a:off x="4663440" y="3749760"/>
            <a:ext cx="4023000" cy="209880"/>
          </a:xfrm>
          <a:prstGeom prst="rect">
            <a:avLst/>
          </a:prstGeom>
          <a:solidFill>
            <a:srgbClr val="eef8f1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5"/>
          <p:cNvSpPr/>
          <p:nvPr/>
        </p:nvSpPr>
        <p:spPr>
          <a:xfrm>
            <a:off x="4713840" y="377208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✓  </a:t>
            </a:r>
            <a:r>
              <a:rPr b="0" lang="en-US" sz="950" spc="-1" strike="noStrike">
                <a:solidFill>
                  <a:srgbClr val="1b5e20"/>
                </a:solidFill>
                <a:latin typeface="Consolas"/>
                <a:ea typeface="Consolas"/>
              </a:rPr>
              <a:t>transmission_type_Manual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56"/>
          <p:cNvSpPr/>
          <p:nvPr/>
        </p:nvSpPr>
        <p:spPr>
          <a:xfrm>
            <a:off x="457200" y="4663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4">
                    <a:lumMod val="50000"/>
                  </a:schemeClr>
                </a:solidFill>
                <a:latin typeface="Consolas"/>
                <a:ea typeface="Consolas"/>
              </a:rPr>
              <a:t>Functions: pd.read_csv()  |  dropna()  |  pd.get_dummies()  |  astype(float)  |  to_numpy()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e2761"/>
                </a:solidFill>
                <a:latin typeface="Calibri"/>
                <a:ea typeface="Calibri"/>
              </a:rPr>
              <a:t>Steps 3 &amp; 4: Matrix Simplification + Remove Redundancy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365760" y="868680"/>
            <a:ext cx="393156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457200" y="960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RREF via SymPy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457200" y="1353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8a"/>
                </a:solidFill>
                <a:latin typeface="Consolas"/>
                <a:ea typeface="Consolas"/>
              </a:rPr>
              <a:t>Function: </a:t>
            </a:r>
            <a:r>
              <a:rPr b="1" lang="en-US" sz="1100" spc="-1" strike="noStrike">
                <a:solidFill>
                  <a:srgbClr val="2d4a8a"/>
                </a:solidFill>
                <a:latin typeface="Consolas"/>
                <a:ea typeface="Consolas"/>
              </a:rPr>
              <a:t>sympy.Matrix.rref()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457200" y="1691640"/>
            <a:ext cx="36572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What it does: 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Row-reduces the feature matrix to find pivot columns, the linearly independent features.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Why we use it: 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Detects which columns carry unique information and which are redundant combinations of others.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Outcome: 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Identified 6 redundant columns (dummy variable trap + junk index). Then we dropped them.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4572000" y="868680"/>
            <a:ext cx="411444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4663440" y="960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Rank &amp; Nullity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4663440" y="13532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8a"/>
                </a:solidFill>
                <a:latin typeface="Consolas"/>
                <a:ea typeface="Consolas"/>
              </a:rPr>
              <a:t>Function: </a:t>
            </a:r>
            <a:r>
              <a:rPr b="1" lang="en-US" sz="1100" spc="-1" strike="noStrike">
                <a:solidFill>
                  <a:srgbClr val="2d4a8a"/>
                </a:solidFill>
                <a:latin typeface="Consolas"/>
                <a:ea typeface="Consolas"/>
              </a:rPr>
              <a:t>np.linalg.matrix_rank()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4663440" y="1691640"/>
            <a:ext cx="1188360" cy="685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4663440" y="17190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Calibri"/>
              </a:rPr>
              <a:t>10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4663440" y="203904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a0c8"/>
                </a:solidFill>
                <a:latin typeface="Calibri"/>
                <a:ea typeface="Calibri"/>
              </a:rPr>
              <a:t>Rank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5989320" y="1691640"/>
            <a:ext cx="1188360" cy="685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5989320" y="17190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Calibri"/>
              </a:rPr>
              <a:t>0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5989320" y="203904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a0c8"/>
                </a:solidFill>
                <a:latin typeface="Calibri"/>
                <a:ea typeface="Calibri"/>
              </a:rPr>
              <a:t>Nullity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7315200" y="1691640"/>
            <a:ext cx="1188360" cy="685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7315200" y="17190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Calibri"/>
              </a:rPr>
              <a:t>10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7315200" y="203904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a0c8"/>
                </a:solidFill>
                <a:latin typeface="Calibri"/>
                <a:ea typeface="Calibri"/>
              </a:rPr>
              <a:t>Total Columns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4663440" y="2450520"/>
            <a:ext cx="38401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Rank + Nullity = Total Columns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10 + 0 = 10  ✓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Nullity = 0 confirms all remaining features are linearly independent. No further redundancy.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365760" y="420624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chemeClr val="accent4">
                    <a:lumMod val="50000"/>
                  </a:schemeClr>
                </a:solidFill>
                <a:latin typeface="Calibri"/>
                <a:ea typeface="Calibri"/>
              </a:rPr>
              <a:t>Dummy variable trap: one-hot encoding N categories needs only N-1 columns. The Nth is always predictable from the others.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e2761"/>
                </a:solidFill>
                <a:latin typeface="Calibri"/>
                <a:ea typeface="Calibri"/>
              </a:rPr>
              <a:t>Step 5: Orthogonalization via QR Decomposition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365760" y="868680"/>
            <a:ext cx="4023000" cy="36572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502920" y="960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Why Orthogonalize?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502920" y="1371600"/>
            <a:ext cx="3748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Before QR: 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Features like engine and max_power are correlated, they 'lean towards' each other in feature space. Distance calculations double-count this overlap.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After QR: 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All 10 feature axes are perpendicular (dot product = 0). Each feature contributes independently to distance. No double-counting.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It is like straightening a skewed coordinate system into clean right-angled axes with same space, better aligned.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4663440" y="868680"/>
            <a:ext cx="4114440" cy="365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754880" y="960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Technical Details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4754880" y="1389960"/>
            <a:ext cx="384012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4800600" y="13989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Function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6035040" y="13989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761"/>
                </a:solidFill>
                <a:latin typeface="Consolas"/>
                <a:ea typeface="Consolas"/>
              </a:rPr>
              <a:t>np.linalg.qr(mtrx)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4754880" y="1828800"/>
            <a:ext cx="384012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4800600" y="18378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Returns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6035040" y="183780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761"/>
                </a:solidFill>
                <a:latin typeface="Consolas"/>
                <a:ea typeface="Consolas"/>
              </a:rPr>
              <a:t>Q matrix + R matrix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3"/>
          <p:cNvSpPr/>
          <p:nvPr/>
        </p:nvSpPr>
        <p:spPr>
          <a:xfrm>
            <a:off x="4754880" y="2267640"/>
            <a:ext cx="384012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4800600" y="22770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Q shape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6035040" y="227700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761"/>
                </a:solidFill>
                <a:latin typeface="Consolas"/>
                <a:ea typeface="Consolas"/>
              </a:rPr>
              <a:t>(15411, 10)  ← used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4754880" y="2706480"/>
            <a:ext cx="384012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4800600" y="271584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R shape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6035040" y="27158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761"/>
                </a:solidFill>
                <a:latin typeface="Consolas"/>
                <a:ea typeface="Consolas"/>
              </a:rPr>
              <a:t>(10, 10)  ← discarded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9"/>
          <p:cNvSpPr/>
          <p:nvPr/>
        </p:nvSpPr>
        <p:spPr>
          <a:xfrm>
            <a:off x="4754880" y="3145680"/>
            <a:ext cx="384012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4800600" y="315468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Q property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6035040" y="31546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761"/>
                </a:solidFill>
                <a:latin typeface="Consolas"/>
                <a:ea typeface="Consolas"/>
              </a:rPr>
              <a:t>QᵀQ = I  (orthonormal)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2"/>
          <p:cNvSpPr/>
          <p:nvPr/>
        </p:nvSpPr>
        <p:spPr>
          <a:xfrm>
            <a:off x="4754880" y="3657600"/>
            <a:ext cx="3840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Also applied StandardScaler before QR — ensures no single feature dominates due to scale differences (e.g. selling_price vs seats).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3"/>
          <p:cNvSpPr/>
          <p:nvPr/>
        </p:nvSpPr>
        <p:spPr>
          <a:xfrm>
            <a:off x="365760" y="46634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chemeClr val="accent4">
                    <a:lumMod val="50000"/>
                  </a:schemeClr>
                </a:solidFill>
                <a:latin typeface="Calibri"/>
                <a:ea typeface="Calibri"/>
              </a:rPr>
              <a:t>Gram-Schmidt process: repeatedly subtract projection of each vector onto all previous ones → perpendicular remainder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e2761"/>
                </a:solidFill>
                <a:latin typeface="Calibri"/>
                <a:ea typeface="Calibri"/>
              </a:rPr>
              <a:t>Steps 6 &amp; 7: Projection + Least Squares → Recommendation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365760" y="868680"/>
            <a:ext cx="2559960" cy="329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507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457200" y="96012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User Input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457200" y="13532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vehicle_age: 3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457200" y="161856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km_driven: 30000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457200" y="18835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mileage: 20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457200" y="21488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engine: 1200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457200" y="241416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max_power: 85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457200" y="26791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seats: 5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457200" y="29444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budget: 800000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457200" y="320940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seller: Dealer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457200" y="34747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fuel: Petrol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457200" y="37400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8a"/>
                </a:solidFill>
                <a:latin typeface="Consolas"/>
                <a:ea typeface="Consolas"/>
              </a:rPr>
              <a:t>trans: Manual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2971800" y="2514600"/>
            <a:ext cx="640080" cy="360"/>
          </a:xfrm>
          <a:prstGeom prst="line">
            <a:avLst/>
          </a:prstGeom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3017520" y="233172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→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6"/>
          <p:cNvSpPr/>
          <p:nvPr/>
        </p:nvSpPr>
        <p:spPr>
          <a:xfrm>
            <a:off x="3291840" y="868680"/>
            <a:ext cx="2742840" cy="329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507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3383280" y="9601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Distance Computation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3383280" y="1371600"/>
            <a:ext cx="25599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1. Scale user_vector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   </a:t>
            </a: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using StandardScaler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2. For each car in Q: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   </a:t>
            </a: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dist = norm(Q[i] − user_vector)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3. Least Squares: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   </a:t>
            </a: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np.linalg.lstsq(Q, user_vector)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   → </a:t>
            </a: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best linear approximation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4. argsort(distances)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   → </a:t>
            </a:r>
            <a:r>
              <a:rPr b="0" lang="en-US" sz="1000" spc="-1" strike="noStrike">
                <a:solidFill>
                  <a:srgbClr val="374151"/>
                </a:solidFill>
                <a:latin typeface="Consolas"/>
                <a:ea typeface="Consolas"/>
              </a:rPr>
              <a:t>sorted car indices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9"/>
          <p:cNvSpPr/>
          <p:nvPr/>
        </p:nvSpPr>
        <p:spPr>
          <a:xfrm>
            <a:off x="6080760" y="233172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→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0"/>
          <p:cNvSpPr/>
          <p:nvPr/>
        </p:nvSpPr>
        <p:spPr>
          <a:xfrm>
            <a:off x="6400800" y="868680"/>
            <a:ext cx="2377080" cy="329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round/>
          </a:ln>
          <a:effectLst>
            <a:outerShdw algn="bl" blurRad="507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1"/>
          <p:cNvSpPr/>
          <p:nvPr/>
        </p:nvSpPr>
        <p:spPr>
          <a:xfrm>
            <a:off x="6492240" y="96012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5e20"/>
                </a:solidFill>
                <a:latin typeface="Calibri"/>
                <a:ea typeface="Calibri"/>
              </a:rPr>
              <a:t>Top 5 Results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2"/>
          <p:cNvSpPr/>
          <p:nvPr/>
        </p:nvSpPr>
        <p:spPr>
          <a:xfrm>
            <a:off x="6492240" y="1389960"/>
            <a:ext cx="210276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3"/>
          <p:cNvSpPr/>
          <p:nvPr/>
        </p:nvSpPr>
        <p:spPr>
          <a:xfrm>
            <a:off x="6537960" y="13989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1. Maruti Swift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4"/>
          <p:cNvSpPr/>
          <p:nvPr/>
        </p:nvSpPr>
        <p:spPr>
          <a:xfrm>
            <a:off x="6492240" y="1828800"/>
            <a:ext cx="210276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5"/>
          <p:cNvSpPr/>
          <p:nvPr/>
        </p:nvSpPr>
        <p:spPr>
          <a:xfrm>
            <a:off x="6537960" y="18378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2. Hyundai i20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6"/>
          <p:cNvSpPr/>
          <p:nvPr/>
        </p:nvSpPr>
        <p:spPr>
          <a:xfrm>
            <a:off x="6492240" y="2267640"/>
            <a:ext cx="210276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7"/>
          <p:cNvSpPr/>
          <p:nvPr/>
        </p:nvSpPr>
        <p:spPr>
          <a:xfrm>
            <a:off x="6537960" y="22770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3. Honda City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28"/>
          <p:cNvSpPr/>
          <p:nvPr/>
        </p:nvSpPr>
        <p:spPr>
          <a:xfrm>
            <a:off x="6492240" y="2706480"/>
            <a:ext cx="210276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9"/>
          <p:cNvSpPr/>
          <p:nvPr/>
        </p:nvSpPr>
        <p:spPr>
          <a:xfrm>
            <a:off x="6537960" y="27158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4. Tata Nexon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30"/>
          <p:cNvSpPr/>
          <p:nvPr/>
        </p:nvSpPr>
        <p:spPr>
          <a:xfrm>
            <a:off x="6492240" y="3145680"/>
            <a:ext cx="210276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1"/>
          <p:cNvSpPr/>
          <p:nvPr/>
        </p:nvSpPr>
        <p:spPr>
          <a:xfrm>
            <a:off x="6537960" y="31546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5. Kia Sonet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2"/>
          <p:cNvSpPr/>
          <p:nvPr/>
        </p:nvSpPr>
        <p:spPr>
          <a:xfrm>
            <a:off x="365760" y="42976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4">
                    <a:lumMod val="50000"/>
                  </a:schemeClr>
                </a:solidFill>
                <a:latin typeface="Consolas"/>
                <a:ea typeface="Consolas"/>
              </a:rPr>
              <a:t>Key functions: np.linalg.norm()  |  np.argsort()  |  np.linalg.lstsq()  |  StandardScaler.transform()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e2761"/>
                </a:solidFill>
                <a:latin typeface="Calibri"/>
                <a:ea typeface="Calibri"/>
              </a:rPr>
              <a:t>Step 8: Pattern Discovery via Eigenvalue Analysis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57200" y="914400"/>
            <a:ext cx="438480" cy="320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57200" y="65844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34.51%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45720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C1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955440" y="2491920"/>
            <a:ext cx="438480" cy="162252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955440" y="223596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17.5%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95544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C2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1454040" y="2934360"/>
            <a:ext cx="438480" cy="11800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1454040" y="267804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12.73%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145404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C3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1952280" y="3129120"/>
            <a:ext cx="438480" cy="985320"/>
          </a:xfrm>
          <a:prstGeom prst="rect">
            <a:avLst/>
          </a:prstGeom>
          <a:solidFill>
            <a:srgbClr val="1a7bbc"/>
          </a:solidFill>
          <a:ln w="12700">
            <a:solidFill>
              <a:srgbClr val="1a7b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1952280" y="287280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10.63%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195228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C4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2450520" y="3321720"/>
            <a:ext cx="438480" cy="792720"/>
          </a:xfrm>
          <a:prstGeom prst="rect">
            <a:avLst/>
          </a:prstGeom>
          <a:solidFill>
            <a:srgbClr val="0d9bd1"/>
          </a:solidFill>
          <a:ln w="12700">
            <a:solidFill>
              <a:srgbClr val="0d9b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2450520" y="306576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8.55%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245052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C5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2949120" y="3562200"/>
            <a:ext cx="438480" cy="552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2949120" y="330588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5.96%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294912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C6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0"/>
          <p:cNvSpPr/>
          <p:nvPr/>
        </p:nvSpPr>
        <p:spPr>
          <a:xfrm>
            <a:off x="3447360" y="3641040"/>
            <a:ext cx="438480" cy="473400"/>
          </a:xfrm>
          <a:prstGeom prst="rect">
            <a:avLst/>
          </a:prstGeom>
          <a:solidFill>
            <a:srgbClr val="02a898"/>
          </a:solidFill>
          <a:ln w="12700">
            <a:solidFill>
              <a:srgbClr val="02a8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1"/>
          <p:cNvSpPr/>
          <p:nvPr/>
        </p:nvSpPr>
        <p:spPr>
          <a:xfrm>
            <a:off x="3447360" y="33847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5.11%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344736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C7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3"/>
          <p:cNvSpPr/>
          <p:nvPr/>
        </p:nvSpPr>
        <p:spPr>
          <a:xfrm>
            <a:off x="3945600" y="3868200"/>
            <a:ext cx="438480" cy="246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3945600" y="361224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2.66%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5"/>
          <p:cNvSpPr/>
          <p:nvPr/>
        </p:nvSpPr>
        <p:spPr>
          <a:xfrm>
            <a:off x="394560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C8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6"/>
          <p:cNvSpPr/>
          <p:nvPr/>
        </p:nvSpPr>
        <p:spPr>
          <a:xfrm>
            <a:off x="4443840" y="3970080"/>
            <a:ext cx="438480" cy="14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7"/>
          <p:cNvSpPr/>
          <p:nvPr/>
        </p:nvSpPr>
        <p:spPr>
          <a:xfrm>
            <a:off x="4443840" y="37141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1.56%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8"/>
          <p:cNvSpPr/>
          <p:nvPr/>
        </p:nvSpPr>
        <p:spPr>
          <a:xfrm>
            <a:off x="444384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C9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9"/>
          <p:cNvSpPr/>
          <p:nvPr/>
        </p:nvSpPr>
        <p:spPr>
          <a:xfrm>
            <a:off x="4942440" y="4042440"/>
            <a:ext cx="438480" cy="72000"/>
          </a:xfrm>
          <a:prstGeom prst="rect">
            <a:avLst/>
          </a:prstGeom>
          <a:solidFill>
            <a:srgbClr val="8aa0c8"/>
          </a:solidFill>
          <a:ln w="12700">
            <a:solidFill>
              <a:srgbClr val="8aa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30"/>
          <p:cNvSpPr/>
          <p:nvPr/>
        </p:nvSpPr>
        <p:spPr>
          <a:xfrm>
            <a:off x="4942440" y="378648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Calibri"/>
              </a:rPr>
              <a:t>0.78%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1"/>
          <p:cNvSpPr/>
          <p:nvPr/>
        </p:nvSpPr>
        <p:spPr>
          <a:xfrm>
            <a:off x="4942440" y="4160520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aa0c8"/>
                </a:solidFill>
                <a:latin typeface="Calibri"/>
                <a:ea typeface="Calibri"/>
              </a:rPr>
              <a:t>C10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32"/>
          <p:cNvSpPr/>
          <p:nvPr/>
        </p:nvSpPr>
        <p:spPr>
          <a:xfrm>
            <a:off x="457200" y="4114800"/>
            <a:ext cx="5029200" cy="360"/>
          </a:xfrm>
          <a:prstGeom prst="line">
            <a:avLst/>
          </a:prstGeom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3"/>
          <p:cNvSpPr/>
          <p:nvPr/>
        </p:nvSpPr>
        <p:spPr>
          <a:xfrm>
            <a:off x="457200" y="44348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a0c8"/>
                </a:solidFill>
                <a:latin typeface="Calibri"/>
                <a:ea typeface="Calibri"/>
              </a:rPr>
              <a:t>% Variance Explained per Component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4"/>
          <p:cNvSpPr/>
          <p:nvPr/>
        </p:nvSpPr>
        <p:spPr>
          <a:xfrm>
            <a:off x="5760720" y="932400"/>
            <a:ext cx="3017160" cy="374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5"/>
          <p:cNvSpPr/>
          <p:nvPr/>
        </p:nvSpPr>
        <p:spPr>
          <a:xfrm>
            <a:off x="5852160" y="9601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Key Insight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6"/>
          <p:cNvSpPr/>
          <p:nvPr/>
        </p:nvSpPr>
        <p:spPr>
          <a:xfrm>
            <a:off x="5852160" y="1417320"/>
            <a:ext cx="274284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37"/>
          <p:cNvSpPr/>
          <p:nvPr/>
        </p:nvSpPr>
        <p:spPr>
          <a:xfrm>
            <a:off x="5897880" y="143568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34.51%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38"/>
          <p:cNvSpPr/>
          <p:nvPr/>
        </p:nvSpPr>
        <p:spPr>
          <a:xfrm>
            <a:off x="6949440" y="143568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Component 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9"/>
          <p:cNvSpPr/>
          <p:nvPr/>
        </p:nvSpPr>
        <p:spPr>
          <a:xfrm>
            <a:off x="5852160" y="1920240"/>
            <a:ext cx="274284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40"/>
          <p:cNvSpPr/>
          <p:nvPr/>
        </p:nvSpPr>
        <p:spPr>
          <a:xfrm>
            <a:off x="5897880" y="193860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17.50%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41"/>
          <p:cNvSpPr/>
          <p:nvPr/>
        </p:nvSpPr>
        <p:spPr>
          <a:xfrm>
            <a:off x="6949440" y="193860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Component 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42"/>
          <p:cNvSpPr/>
          <p:nvPr/>
        </p:nvSpPr>
        <p:spPr>
          <a:xfrm>
            <a:off x="5852160" y="2423160"/>
            <a:ext cx="274284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43"/>
          <p:cNvSpPr/>
          <p:nvPr/>
        </p:nvSpPr>
        <p:spPr>
          <a:xfrm>
            <a:off x="5897880" y="24415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12.73%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44"/>
          <p:cNvSpPr/>
          <p:nvPr/>
        </p:nvSpPr>
        <p:spPr>
          <a:xfrm>
            <a:off x="6949440" y="244152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4a8a"/>
                </a:solidFill>
                <a:latin typeface="Calibri"/>
                <a:ea typeface="Calibri"/>
              </a:rPr>
              <a:t>Component 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45"/>
          <p:cNvSpPr/>
          <p:nvPr/>
        </p:nvSpPr>
        <p:spPr>
          <a:xfrm>
            <a:off x="5852160" y="276624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Top 3 components explain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64.74% of all variation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46"/>
          <p:cNvSpPr/>
          <p:nvPr/>
        </p:nvSpPr>
        <p:spPr>
          <a:xfrm>
            <a:off x="5852160" y="3384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chemeClr val="accent4">
                    <a:lumMod val="50000"/>
                  </a:schemeClr>
                </a:solidFill>
                <a:latin typeface="Consolas"/>
                <a:ea typeface="Consolas"/>
              </a:rPr>
              <a:t>Functions: </a:t>
            </a:r>
            <a:r>
              <a:rPr b="0" lang="en-US" sz="950" spc="-1" strike="noStrike">
                <a:solidFill>
                  <a:schemeClr val="accent4">
                    <a:lumMod val="50000"/>
                  </a:schemeClr>
                </a:solidFill>
                <a:latin typeface="Consolas"/>
                <a:ea typeface="Consolas"/>
              </a:rPr>
              <a:t>np.cov(mtrx.T)  |  np.linalg.eig()  |  np.diag(eigenvalues)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47"/>
          <p:cNvSpPr/>
          <p:nvPr/>
        </p:nvSpPr>
        <p:spPr>
          <a:xfrm>
            <a:off x="5852160" y="394848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chemeClr val="accent1">
                    <a:lumMod val="75000"/>
                  </a:schemeClr>
                </a:solidFill>
                <a:latin typeface="Consolas"/>
                <a:ea typeface="Calibri"/>
              </a:rPr>
              <a:t>Most car variation is explained by a small number of underlying factors — price range, engine size, and usage profile.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e2761"/>
                </a:solidFill>
                <a:latin typeface="Calibri"/>
                <a:ea typeface="Calibri"/>
              </a:rPr>
              <a:t>Step 9: System Simplification via Diagonalization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365760" y="868680"/>
            <a:ext cx="4023000" cy="365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507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457200" y="960120"/>
            <a:ext cx="3840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Calibri"/>
              </a:rPr>
              <a:t>A = P D P⁻¹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548640" y="1508760"/>
            <a:ext cx="3657600" cy="360"/>
          </a:xfrm>
          <a:prstGeom prst="line">
            <a:avLst/>
          </a:prstGeom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457200" y="1600200"/>
            <a:ext cx="3748680" cy="475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502920" y="161856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A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1051560" y="161856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Covariance matrix  (10×10, features tangled together)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457200" y="2148840"/>
            <a:ext cx="3748680" cy="475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502920" y="216720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P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1051560" y="216720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Matrix of eigenvectors  (new independent axes)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457200" y="2697480"/>
            <a:ext cx="3748680" cy="475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502920" y="271584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D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1051560" y="271584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Diagonal matrix of eigenvalues  (variance per axis)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457200" y="3246120"/>
            <a:ext cx="3748680" cy="475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502920" y="326448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P⁻¹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1051560" y="326448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Inverse of eigenvector matrix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457200" y="382212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chemeClr val="accent4">
                    <a:lumMod val="50000"/>
                  </a:schemeClr>
                </a:solidFill>
                <a:latin typeface="Calibri"/>
                <a:ea typeface="Calibri"/>
              </a:rPr>
              <a:t>Diagonalization 'untangles' the covariance matrix into independent components — each eigenvalue on the diagonal represents pure, isolated variance.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4663440" y="868680"/>
            <a:ext cx="4114440" cy="4036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507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4754880" y="9601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Diagonal Matrix D  (10×10)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4754880" y="13532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4a8a"/>
                </a:solidFill>
                <a:latin typeface="Consolas"/>
                <a:ea typeface="Consolas"/>
              </a:rPr>
              <a:t>np.diag(eigenvalues)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1"/>
          <p:cNvSpPr/>
          <p:nvPr/>
        </p:nvSpPr>
        <p:spPr>
          <a:xfrm>
            <a:off x="4800600" y="171900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22"/>
          <p:cNvSpPr/>
          <p:nvPr/>
        </p:nvSpPr>
        <p:spPr>
          <a:xfrm>
            <a:off x="480060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1e2761"/>
                </a:solidFill>
                <a:latin typeface="Consolas"/>
                <a:ea typeface="Consolas"/>
              </a:rPr>
              <a:t>3.45</a:t>
            </a:r>
            <a:endParaRPr b="0" lang="en-IN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3"/>
          <p:cNvSpPr/>
          <p:nvPr/>
        </p:nvSpPr>
        <p:spPr>
          <a:xfrm>
            <a:off x="511164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24"/>
          <p:cNvSpPr/>
          <p:nvPr/>
        </p:nvSpPr>
        <p:spPr>
          <a:xfrm>
            <a:off x="511164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5"/>
          <p:cNvSpPr/>
          <p:nvPr/>
        </p:nvSpPr>
        <p:spPr>
          <a:xfrm>
            <a:off x="542232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6"/>
          <p:cNvSpPr/>
          <p:nvPr/>
        </p:nvSpPr>
        <p:spPr>
          <a:xfrm>
            <a:off x="542232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>
            <a:off x="573336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8"/>
          <p:cNvSpPr/>
          <p:nvPr/>
        </p:nvSpPr>
        <p:spPr>
          <a:xfrm>
            <a:off x="573336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9"/>
          <p:cNvSpPr/>
          <p:nvPr/>
        </p:nvSpPr>
        <p:spPr>
          <a:xfrm>
            <a:off x="604404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0"/>
          <p:cNvSpPr/>
          <p:nvPr/>
        </p:nvSpPr>
        <p:spPr>
          <a:xfrm>
            <a:off x="604404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635508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32"/>
          <p:cNvSpPr/>
          <p:nvPr/>
        </p:nvSpPr>
        <p:spPr>
          <a:xfrm>
            <a:off x="635508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666612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34"/>
          <p:cNvSpPr/>
          <p:nvPr/>
        </p:nvSpPr>
        <p:spPr>
          <a:xfrm>
            <a:off x="666612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5"/>
          <p:cNvSpPr/>
          <p:nvPr/>
        </p:nvSpPr>
        <p:spPr>
          <a:xfrm>
            <a:off x="697680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697680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7"/>
          <p:cNvSpPr/>
          <p:nvPr/>
        </p:nvSpPr>
        <p:spPr>
          <a:xfrm>
            <a:off x="728784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8"/>
          <p:cNvSpPr/>
          <p:nvPr/>
        </p:nvSpPr>
        <p:spPr>
          <a:xfrm>
            <a:off x="728784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9"/>
          <p:cNvSpPr/>
          <p:nvPr/>
        </p:nvSpPr>
        <p:spPr>
          <a:xfrm>
            <a:off x="7598520" y="17190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0"/>
          <p:cNvSpPr/>
          <p:nvPr/>
        </p:nvSpPr>
        <p:spPr>
          <a:xfrm>
            <a:off x="7598520" y="171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41"/>
          <p:cNvSpPr/>
          <p:nvPr/>
        </p:nvSpPr>
        <p:spPr>
          <a:xfrm>
            <a:off x="480060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42"/>
          <p:cNvSpPr/>
          <p:nvPr/>
        </p:nvSpPr>
        <p:spPr>
          <a:xfrm>
            <a:off x="480060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43"/>
          <p:cNvSpPr/>
          <p:nvPr/>
        </p:nvSpPr>
        <p:spPr>
          <a:xfrm>
            <a:off x="5111640" y="203004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44"/>
          <p:cNvSpPr/>
          <p:nvPr/>
        </p:nvSpPr>
        <p:spPr>
          <a:xfrm>
            <a:off x="511164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1.75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45"/>
          <p:cNvSpPr/>
          <p:nvPr/>
        </p:nvSpPr>
        <p:spPr>
          <a:xfrm>
            <a:off x="542232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6"/>
          <p:cNvSpPr/>
          <p:nvPr/>
        </p:nvSpPr>
        <p:spPr>
          <a:xfrm>
            <a:off x="542232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7"/>
          <p:cNvSpPr/>
          <p:nvPr/>
        </p:nvSpPr>
        <p:spPr>
          <a:xfrm>
            <a:off x="573336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8"/>
          <p:cNvSpPr/>
          <p:nvPr/>
        </p:nvSpPr>
        <p:spPr>
          <a:xfrm>
            <a:off x="573336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9"/>
          <p:cNvSpPr/>
          <p:nvPr/>
        </p:nvSpPr>
        <p:spPr>
          <a:xfrm>
            <a:off x="604404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50"/>
          <p:cNvSpPr/>
          <p:nvPr/>
        </p:nvSpPr>
        <p:spPr>
          <a:xfrm>
            <a:off x="604404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51"/>
          <p:cNvSpPr/>
          <p:nvPr/>
        </p:nvSpPr>
        <p:spPr>
          <a:xfrm>
            <a:off x="635508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52"/>
          <p:cNvSpPr/>
          <p:nvPr/>
        </p:nvSpPr>
        <p:spPr>
          <a:xfrm>
            <a:off x="635508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53"/>
          <p:cNvSpPr/>
          <p:nvPr/>
        </p:nvSpPr>
        <p:spPr>
          <a:xfrm>
            <a:off x="666612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54"/>
          <p:cNvSpPr/>
          <p:nvPr/>
        </p:nvSpPr>
        <p:spPr>
          <a:xfrm>
            <a:off x="666612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55"/>
          <p:cNvSpPr/>
          <p:nvPr/>
        </p:nvSpPr>
        <p:spPr>
          <a:xfrm>
            <a:off x="697680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6"/>
          <p:cNvSpPr/>
          <p:nvPr/>
        </p:nvSpPr>
        <p:spPr>
          <a:xfrm>
            <a:off x="697680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57"/>
          <p:cNvSpPr/>
          <p:nvPr/>
        </p:nvSpPr>
        <p:spPr>
          <a:xfrm>
            <a:off x="728784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58"/>
          <p:cNvSpPr/>
          <p:nvPr/>
        </p:nvSpPr>
        <p:spPr>
          <a:xfrm>
            <a:off x="728784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59"/>
          <p:cNvSpPr/>
          <p:nvPr/>
        </p:nvSpPr>
        <p:spPr>
          <a:xfrm>
            <a:off x="7598520" y="20300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60"/>
          <p:cNvSpPr/>
          <p:nvPr/>
        </p:nvSpPr>
        <p:spPr>
          <a:xfrm>
            <a:off x="759852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61"/>
          <p:cNvSpPr/>
          <p:nvPr/>
        </p:nvSpPr>
        <p:spPr>
          <a:xfrm>
            <a:off x="480060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62"/>
          <p:cNvSpPr/>
          <p:nvPr/>
        </p:nvSpPr>
        <p:spPr>
          <a:xfrm>
            <a:off x="480060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63"/>
          <p:cNvSpPr/>
          <p:nvPr/>
        </p:nvSpPr>
        <p:spPr>
          <a:xfrm>
            <a:off x="511164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64"/>
          <p:cNvSpPr/>
          <p:nvPr/>
        </p:nvSpPr>
        <p:spPr>
          <a:xfrm>
            <a:off x="511164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65"/>
          <p:cNvSpPr/>
          <p:nvPr/>
        </p:nvSpPr>
        <p:spPr>
          <a:xfrm>
            <a:off x="5422320" y="234072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66"/>
          <p:cNvSpPr/>
          <p:nvPr/>
        </p:nvSpPr>
        <p:spPr>
          <a:xfrm>
            <a:off x="542232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1.27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7"/>
          <p:cNvSpPr/>
          <p:nvPr/>
        </p:nvSpPr>
        <p:spPr>
          <a:xfrm>
            <a:off x="573336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68"/>
          <p:cNvSpPr/>
          <p:nvPr/>
        </p:nvSpPr>
        <p:spPr>
          <a:xfrm>
            <a:off x="573336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69"/>
          <p:cNvSpPr/>
          <p:nvPr/>
        </p:nvSpPr>
        <p:spPr>
          <a:xfrm>
            <a:off x="604404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70"/>
          <p:cNvSpPr/>
          <p:nvPr/>
        </p:nvSpPr>
        <p:spPr>
          <a:xfrm>
            <a:off x="604404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71"/>
          <p:cNvSpPr/>
          <p:nvPr/>
        </p:nvSpPr>
        <p:spPr>
          <a:xfrm>
            <a:off x="635508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72"/>
          <p:cNvSpPr/>
          <p:nvPr/>
        </p:nvSpPr>
        <p:spPr>
          <a:xfrm>
            <a:off x="635508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73"/>
          <p:cNvSpPr/>
          <p:nvPr/>
        </p:nvSpPr>
        <p:spPr>
          <a:xfrm>
            <a:off x="666612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74"/>
          <p:cNvSpPr/>
          <p:nvPr/>
        </p:nvSpPr>
        <p:spPr>
          <a:xfrm>
            <a:off x="666612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75"/>
          <p:cNvSpPr/>
          <p:nvPr/>
        </p:nvSpPr>
        <p:spPr>
          <a:xfrm>
            <a:off x="697680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76"/>
          <p:cNvSpPr/>
          <p:nvPr/>
        </p:nvSpPr>
        <p:spPr>
          <a:xfrm>
            <a:off x="697680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77"/>
          <p:cNvSpPr/>
          <p:nvPr/>
        </p:nvSpPr>
        <p:spPr>
          <a:xfrm>
            <a:off x="728784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78"/>
          <p:cNvSpPr/>
          <p:nvPr/>
        </p:nvSpPr>
        <p:spPr>
          <a:xfrm>
            <a:off x="728784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79"/>
          <p:cNvSpPr/>
          <p:nvPr/>
        </p:nvSpPr>
        <p:spPr>
          <a:xfrm>
            <a:off x="7598520" y="23407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80"/>
          <p:cNvSpPr/>
          <p:nvPr/>
        </p:nvSpPr>
        <p:spPr>
          <a:xfrm>
            <a:off x="7598520" y="23407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81"/>
          <p:cNvSpPr/>
          <p:nvPr/>
        </p:nvSpPr>
        <p:spPr>
          <a:xfrm>
            <a:off x="480060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82"/>
          <p:cNvSpPr/>
          <p:nvPr/>
        </p:nvSpPr>
        <p:spPr>
          <a:xfrm>
            <a:off x="480060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83"/>
          <p:cNvSpPr/>
          <p:nvPr/>
        </p:nvSpPr>
        <p:spPr>
          <a:xfrm>
            <a:off x="511164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84"/>
          <p:cNvSpPr/>
          <p:nvPr/>
        </p:nvSpPr>
        <p:spPr>
          <a:xfrm>
            <a:off x="511164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85"/>
          <p:cNvSpPr/>
          <p:nvPr/>
        </p:nvSpPr>
        <p:spPr>
          <a:xfrm>
            <a:off x="542232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86"/>
          <p:cNvSpPr/>
          <p:nvPr/>
        </p:nvSpPr>
        <p:spPr>
          <a:xfrm>
            <a:off x="542232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87"/>
          <p:cNvSpPr/>
          <p:nvPr/>
        </p:nvSpPr>
        <p:spPr>
          <a:xfrm>
            <a:off x="5733360" y="265176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88"/>
          <p:cNvSpPr/>
          <p:nvPr/>
        </p:nvSpPr>
        <p:spPr>
          <a:xfrm>
            <a:off x="573336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1.06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89"/>
          <p:cNvSpPr/>
          <p:nvPr/>
        </p:nvSpPr>
        <p:spPr>
          <a:xfrm>
            <a:off x="604404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90"/>
          <p:cNvSpPr/>
          <p:nvPr/>
        </p:nvSpPr>
        <p:spPr>
          <a:xfrm>
            <a:off x="604404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91"/>
          <p:cNvSpPr/>
          <p:nvPr/>
        </p:nvSpPr>
        <p:spPr>
          <a:xfrm>
            <a:off x="635508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92"/>
          <p:cNvSpPr/>
          <p:nvPr/>
        </p:nvSpPr>
        <p:spPr>
          <a:xfrm>
            <a:off x="635508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93"/>
          <p:cNvSpPr/>
          <p:nvPr/>
        </p:nvSpPr>
        <p:spPr>
          <a:xfrm>
            <a:off x="666612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94"/>
          <p:cNvSpPr/>
          <p:nvPr/>
        </p:nvSpPr>
        <p:spPr>
          <a:xfrm>
            <a:off x="666612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95"/>
          <p:cNvSpPr/>
          <p:nvPr/>
        </p:nvSpPr>
        <p:spPr>
          <a:xfrm>
            <a:off x="697680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96"/>
          <p:cNvSpPr/>
          <p:nvPr/>
        </p:nvSpPr>
        <p:spPr>
          <a:xfrm>
            <a:off x="697680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97"/>
          <p:cNvSpPr/>
          <p:nvPr/>
        </p:nvSpPr>
        <p:spPr>
          <a:xfrm>
            <a:off x="728784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98"/>
          <p:cNvSpPr/>
          <p:nvPr/>
        </p:nvSpPr>
        <p:spPr>
          <a:xfrm>
            <a:off x="728784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99"/>
          <p:cNvSpPr/>
          <p:nvPr/>
        </p:nvSpPr>
        <p:spPr>
          <a:xfrm>
            <a:off x="7598520" y="265176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00"/>
          <p:cNvSpPr/>
          <p:nvPr/>
        </p:nvSpPr>
        <p:spPr>
          <a:xfrm>
            <a:off x="7598520" y="2651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101"/>
          <p:cNvSpPr/>
          <p:nvPr/>
        </p:nvSpPr>
        <p:spPr>
          <a:xfrm>
            <a:off x="480060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02"/>
          <p:cNvSpPr/>
          <p:nvPr/>
        </p:nvSpPr>
        <p:spPr>
          <a:xfrm>
            <a:off x="480060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03"/>
          <p:cNvSpPr/>
          <p:nvPr/>
        </p:nvSpPr>
        <p:spPr>
          <a:xfrm>
            <a:off x="511164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04"/>
          <p:cNvSpPr/>
          <p:nvPr/>
        </p:nvSpPr>
        <p:spPr>
          <a:xfrm>
            <a:off x="511164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05"/>
          <p:cNvSpPr/>
          <p:nvPr/>
        </p:nvSpPr>
        <p:spPr>
          <a:xfrm>
            <a:off x="542232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06"/>
          <p:cNvSpPr/>
          <p:nvPr/>
        </p:nvSpPr>
        <p:spPr>
          <a:xfrm>
            <a:off x="542232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07"/>
          <p:cNvSpPr/>
          <p:nvPr/>
        </p:nvSpPr>
        <p:spPr>
          <a:xfrm>
            <a:off x="573336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108"/>
          <p:cNvSpPr/>
          <p:nvPr/>
        </p:nvSpPr>
        <p:spPr>
          <a:xfrm>
            <a:off x="573336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09"/>
          <p:cNvSpPr/>
          <p:nvPr/>
        </p:nvSpPr>
        <p:spPr>
          <a:xfrm>
            <a:off x="6044040" y="296280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10"/>
          <p:cNvSpPr/>
          <p:nvPr/>
        </p:nvSpPr>
        <p:spPr>
          <a:xfrm>
            <a:off x="604404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0.85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11"/>
          <p:cNvSpPr/>
          <p:nvPr/>
        </p:nvSpPr>
        <p:spPr>
          <a:xfrm>
            <a:off x="635508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12"/>
          <p:cNvSpPr/>
          <p:nvPr/>
        </p:nvSpPr>
        <p:spPr>
          <a:xfrm>
            <a:off x="635508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13"/>
          <p:cNvSpPr/>
          <p:nvPr/>
        </p:nvSpPr>
        <p:spPr>
          <a:xfrm>
            <a:off x="666612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114"/>
          <p:cNvSpPr/>
          <p:nvPr/>
        </p:nvSpPr>
        <p:spPr>
          <a:xfrm>
            <a:off x="666612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15"/>
          <p:cNvSpPr/>
          <p:nvPr/>
        </p:nvSpPr>
        <p:spPr>
          <a:xfrm>
            <a:off x="697680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16"/>
          <p:cNvSpPr/>
          <p:nvPr/>
        </p:nvSpPr>
        <p:spPr>
          <a:xfrm>
            <a:off x="697680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17"/>
          <p:cNvSpPr/>
          <p:nvPr/>
        </p:nvSpPr>
        <p:spPr>
          <a:xfrm>
            <a:off x="728784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18"/>
          <p:cNvSpPr/>
          <p:nvPr/>
        </p:nvSpPr>
        <p:spPr>
          <a:xfrm>
            <a:off x="728784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19"/>
          <p:cNvSpPr/>
          <p:nvPr/>
        </p:nvSpPr>
        <p:spPr>
          <a:xfrm>
            <a:off x="7598520" y="29628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120"/>
          <p:cNvSpPr/>
          <p:nvPr/>
        </p:nvSpPr>
        <p:spPr>
          <a:xfrm>
            <a:off x="7598520" y="2962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21"/>
          <p:cNvSpPr/>
          <p:nvPr/>
        </p:nvSpPr>
        <p:spPr>
          <a:xfrm>
            <a:off x="480060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22"/>
          <p:cNvSpPr/>
          <p:nvPr/>
        </p:nvSpPr>
        <p:spPr>
          <a:xfrm>
            <a:off x="480060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23"/>
          <p:cNvSpPr/>
          <p:nvPr/>
        </p:nvSpPr>
        <p:spPr>
          <a:xfrm>
            <a:off x="511164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124"/>
          <p:cNvSpPr/>
          <p:nvPr/>
        </p:nvSpPr>
        <p:spPr>
          <a:xfrm>
            <a:off x="511164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25"/>
          <p:cNvSpPr/>
          <p:nvPr/>
        </p:nvSpPr>
        <p:spPr>
          <a:xfrm>
            <a:off x="542232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26"/>
          <p:cNvSpPr/>
          <p:nvPr/>
        </p:nvSpPr>
        <p:spPr>
          <a:xfrm>
            <a:off x="542232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27"/>
          <p:cNvSpPr/>
          <p:nvPr/>
        </p:nvSpPr>
        <p:spPr>
          <a:xfrm>
            <a:off x="573336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28"/>
          <p:cNvSpPr/>
          <p:nvPr/>
        </p:nvSpPr>
        <p:spPr>
          <a:xfrm>
            <a:off x="573336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29"/>
          <p:cNvSpPr/>
          <p:nvPr/>
        </p:nvSpPr>
        <p:spPr>
          <a:xfrm>
            <a:off x="604404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30"/>
          <p:cNvSpPr/>
          <p:nvPr/>
        </p:nvSpPr>
        <p:spPr>
          <a:xfrm>
            <a:off x="604404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31"/>
          <p:cNvSpPr/>
          <p:nvPr/>
        </p:nvSpPr>
        <p:spPr>
          <a:xfrm>
            <a:off x="6355080" y="327348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32"/>
          <p:cNvSpPr/>
          <p:nvPr/>
        </p:nvSpPr>
        <p:spPr>
          <a:xfrm>
            <a:off x="635508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0.6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33"/>
          <p:cNvSpPr/>
          <p:nvPr/>
        </p:nvSpPr>
        <p:spPr>
          <a:xfrm>
            <a:off x="666612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134"/>
          <p:cNvSpPr/>
          <p:nvPr/>
        </p:nvSpPr>
        <p:spPr>
          <a:xfrm>
            <a:off x="666612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135"/>
          <p:cNvSpPr/>
          <p:nvPr/>
        </p:nvSpPr>
        <p:spPr>
          <a:xfrm>
            <a:off x="697680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136"/>
          <p:cNvSpPr/>
          <p:nvPr/>
        </p:nvSpPr>
        <p:spPr>
          <a:xfrm>
            <a:off x="697680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37"/>
          <p:cNvSpPr/>
          <p:nvPr/>
        </p:nvSpPr>
        <p:spPr>
          <a:xfrm>
            <a:off x="728784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138"/>
          <p:cNvSpPr/>
          <p:nvPr/>
        </p:nvSpPr>
        <p:spPr>
          <a:xfrm>
            <a:off x="728784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39"/>
          <p:cNvSpPr/>
          <p:nvPr/>
        </p:nvSpPr>
        <p:spPr>
          <a:xfrm>
            <a:off x="7598520" y="32734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140"/>
          <p:cNvSpPr/>
          <p:nvPr/>
        </p:nvSpPr>
        <p:spPr>
          <a:xfrm>
            <a:off x="759852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141"/>
          <p:cNvSpPr/>
          <p:nvPr/>
        </p:nvSpPr>
        <p:spPr>
          <a:xfrm>
            <a:off x="480060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42"/>
          <p:cNvSpPr/>
          <p:nvPr/>
        </p:nvSpPr>
        <p:spPr>
          <a:xfrm>
            <a:off x="480060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143"/>
          <p:cNvSpPr/>
          <p:nvPr/>
        </p:nvSpPr>
        <p:spPr>
          <a:xfrm>
            <a:off x="511164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44"/>
          <p:cNvSpPr/>
          <p:nvPr/>
        </p:nvSpPr>
        <p:spPr>
          <a:xfrm>
            <a:off x="511164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45"/>
          <p:cNvSpPr/>
          <p:nvPr/>
        </p:nvSpPr>
        <p:spPr>
          <a:xfrm>
            <a:off x="542232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46"/>
          <p:cNvSpPr/>
          <p:nvPr/>
        </p:nvSpPr>
        <p:spPr>
          <a:xfrm>
            <a:off x="542232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47"/>
          <p:cNvSpPr/>
          <p:nvPr/>
        </p:nvSpPr>
        <p:spPr>
          <a:xfrm>
            <a:off x="573336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48"/>
          <p:cNvSpPr/>
          <p:nvPr/>
        </p:nvSpPr>
        <p:spPr>
          <a:xfrm>
            <a:off x="573336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49"/>
          <p:cNvSpPr/>
          <p:nvPr/>
        </p:nvSpPr>
        <p:spPr>
          <a:xfrm>
            <a:off x="604404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50"/>
          <p:cNvSpPr/>
          <p:nvPr/>
        </p:nvSpPr>
        <p:spPr>
          <a:xfrm>
            <a:off x="604404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51"/>
          <p:cNvSpPr/>
          <p:nvPr/>
        </p:nvSpPr>
        <p:spPr>
          <a:xfrm>
            <a:off x="635508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152"/>
          <p:cNvSpPr/>
          <p:nvPr/>
        </p:nvSpPr>
        <p:spPr>
          <a:xfrm>
            <a:off x="635508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53"/>
          <p:cNvSpPr/>
          <p:nvPr/>
        </p:nvSpPr>
        <p:spPr>
          <a:xfrm>
            <a:off x="6666120" y="358452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54"/>
          <p:cNvSpPr/>
          <p:nvPr/>
        </p:nvSpPr>
        <p:spPr>
          <a:xfrm>
            <a:off x="666612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0.51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55"/>
          <p:cNvSpPr/>
          <p:nvPr/>
        </p:nvSpPr>
        <p:spPr>
          <a:xfrm>
            <a:off x="697680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156"/>
          <p:cNvSpPr/>
          <p:nvPr/>
        </p:nvSpPr>
        <p:spPr>
          <a:xfrm>
            <a:off x="697680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157"/>
          <p:cNvSpPr/>
          <p:nvPr/>
        </p:nvSpPr>
        <p:spPr>
          <a:xfrm>
            <a:off x="728784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158"/>
          <p:cNvSpPr/>
          <p:nvPr/>
        </p:nvSpPr>
        <p:spPr>
          <a:xfrm>
            <a:off x="728784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159"/>
          <p:cNvSpPr/>
          <p:nvPr/>
        </p:nvSpPr>
        <p:spPr>
          <a:xfrm>
            <a:off x="7598520" y="358452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60"/>
          <p:cNvSpPr/>
          <p:nvPr/>
        </p:nvSpPr>
        <p:spPr>
          <a:xfrm>
            <a:off x="7598520" y="358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161"/>
          <p:cNvSpPr/>
          <p:nvPr/>
        </p:nvSpPr>
        <p:spPr>
          <a:xfrm>
            <a:off x="480060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62"/>
          <p:cNvSpPr/>
          <p:nvPr/>
        </p:nvSpPr>
        <p:spPr>
          <a:xfrm>
            <a:off x="480060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63"/>
          <p:cNvSpPr/>
          <p:nvPr/>
        </p:nvSpPr>
        <p:spPr>
          <a:xfrm>
            <a:off x="511164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164"/>
          <p:cNvSpPr/>
          <p:nvPr/>
        </p:nvSpPr>
        <p:spPr>
          <a:xfrm>
            <a:off x="511164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65"/>
          <p:cNvSpPr/>
          <p:nvPr/>
        </p:nvSpPr>
        <p:spPr>
          <a:xfrm>
            <a:off x="542232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166"/>
          <p:cNvSpPr/>
          <p:nvPr/>
        </p:nvSpPr>
        <p:spPr>
          <a:xfrm>
            <a:off x="542232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67"/>
          <p:cNvSpPr/>
          <p:nvPr/>
        </p:nvSpPr>
        <p:spPr>
          <a:xfrm>
            <a:off x="573336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168"/>
          <p:cNvSpPr/>
          <p:nvPr/>
        </p:nvSpPr>
        <p:spPr>
          <a:xfrm>
            <a:off x="573336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69"/>
          <p:cNvSpPr/>
          <p:nvPr/>
        </p:nvSpPr>
        <p:spPr>
          <a:xfrm>
            <a:off x="604404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170"/>
          <p:cNvSpPr/>
          <p:nvPr/>
        </p:nvSpPr>
        <p:spPr>
          <a:xfrm>
            <a:off x="604404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71"/>
          <p:cNvSpPr/>
          <p:nvPr/>
        </p:nvSpPr>
        <p:spPr>
          <a:xfrm>
            <a:off x="635508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172"/>
          <p:cNvSpPr/>
          <p:nvPr/>
        </p:nvSpPr>
        <p:spPr>
          <a:xfrm>
            <a:off x="635508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73"/>
          <p:cNvSpPr/>
          <p:nvPr/>
        </p:nvSpPr>
        <p:spPr>
          <a:xfrm>
            <a:off x="666612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74"/>
          <p:cNvSpPr/>
          <p:nvPr/>
        </p:nvSpPr>
        <p:spPr>
          <a:xfrm>
            <a:off x="666612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75"/>
          <p:cNvSpPr/>
          <p:nvPr/>
        </p:nvSpPr>
        <p:spPr>
          <a:xfrm>
            <a:off x="6976800" y="389520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176"/>
          <p:cNvSpPr/>
          <p:nvPr/>
        </p:nvSpPr>
        <p:spPr>
          <a:xfrm>
            <a:off x="697680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0.27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177"/>
          <p:cNvSpPr/>
          <p:nvPr/>
        </p:nvSpPr>
        <p:spPr>
          <a:xfrm>
            <a:off x="728784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178"/>
          <p:cNvSpPr/>
          <p:nvPr/>
        </p:nvSpPr>
        <p:spPr>
          <a:xfrm>
            <a:off x="728784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79"/>
          <p:cNvSpPr/>
          <p:nvPr/>
        </p:nvSpPr>
        <p:spPr>
          <a:xfrm>
            <a:off x="7598520" y="389520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180"/>
          <p:cNvSpPr/>
          <p:nvPr/>
        </p:nvSpPr>
        <p:spPr>
          <a:xfrm>
            <a:off x="759852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181"/>
          <p:cNvSpPr/>
          <p:nvPr/>
        </p:nvSpPr>
        <p:spPr>
          <a:xfrm>
            <a:off x="480060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82"/>
          <p:cNvSpPr/>
          <p:nvPr/>
        </p:nvSpPr>
        <p:spPr>
          <a:xfrm>
            <a:off x="480060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183"/>
          <p:cNvSpPr/>
          <p:nvPr/>
        </p:nvSpPr>
        <p:spPr>
          <a:xfrm>
            <a:off x="511164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184"/>
          <p:cNvSpPr/>
          <p:nvPr/>
        </p:nvSpPr>
        <p:spPr>
          <a:xfrm>
            <a:off x="511164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185"/>
          <p:cNvSpPr/>
          <p:nvPr/>
        </p:nvSpPr>
        <p:spPr>
          <a:xfrm>
            <a:off x="542232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186"/>
          <p:cNvSpPr/>
          <p:nvPr/>
        </p:nvSpPr>
        <p:spPr>
          <a:xfrm>
            <a:off x="542232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87"/>
          <p:cNvSpPr/>
          <p:nvPr/>
        </p:nvSpPr>
        <p:spPr>
          <a:xfrm>
            <a:off x="573336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88"/>
          <p:cNvSpPr/>
          <p:nvPr/>
        </p:nvSpPr>
        <p:spPr>
          <a:xfrm>
            <a:off x="573336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89"/>
          <p:cNvSpPr/>
          <p:nvPr/>
        </p:nvSpPr>
        <p:spPr>
          <a:xfrm>
            <a:off x="604404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190"/>
          <p:cNvSpPr/>
          <p:nvPr/>
        </p:nvSpPr>
        <p:spPr>
          <a:xfrm>
            <a:off x="604404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91"/>
          <p:cNvSpPr/>
          <p:nvPr/>
        </p:nvSpPr>
        <p:spPr>
          <a:xfrm>
            <a:off x="635508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192"/>
          <p:cNvSpPr/>
          <p:nvPr/>
        </p:nvSpPr>
        <p:spPr>
          <a:xfrm>
            <a:off x="635508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93"/>
          <p:cNvSpPr/>
          <p:nvPr/>
        </p:nvSpPr>
        <p:spPr>
          <a:xfrm>
            <a:off x="666612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94"/>
          <p:cNvSpPr/>
          <p:nvPr/>
        </p:nvSpPr>
        <p:spPr>
          <a:xfrm>
            <a:off x="666612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95"/>
          <p:cNvSpPr/>
          <p:nvPr/>
        </p:nvSpPr>
        <p:spPr>
          <a:xfrm>
            <a:off x="697680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96"/>
          <p:cNvSpPr/>
          <p:nvPr/>
        </p:nvSpPr>
        <p:spPr>
          <a:xfrm>
            <a:off x="697680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197"/>
          <p:cNvSpPr/>
          <p:nvPr/>
        </p:nvSpPr>
        <p:spPr>
          <a:xfrm>
            <a:off x="7287840" y="420624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98"/>
          <p:cNvSpPr/>
          <p:nvPr/>
        </p:nvSpPr>
        <p:spPr>
          <a:xfrm>
            <a:off x="728784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0.16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99"/>
          <p:cNvSpPr/>
          <p:nvPr/>
        </p:nvSpPr>
        <p:spPr>
          <a:xfrm>
            <a:off x="7598520" y="420624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200"/>
          <p:cNvSpPr/>
          <p:nvPr/>
        </p:nvSpPr>
        <p:spPr>
          <a:xfrm>
            <a:off x="7598520" y="4206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201"/>
          <p:cNvSpPr/>
          <p:nvPr/>
        </p:nvSpPr>
        <p:spPr>
          <a:xfrm>
            <a:off x="480060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202"/>
          <p:cNvSpPr/>
          <p:nvPr/>
        </p:nvSpPr>
        <p:spPr>
          <a:xfrm>
            <a:off x="480060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203"/>
          <p:cNvSpPr/>
          <p:nvPr/>
        </p:nvSpPr>
        <p:spPr>
          <a:xfrm>
            <a:off x="511164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04"/>
          <p:cNvSpPr/>
          <p:nvPr/>
        </p:nvSpPr>
        <p:spPr>
          <a:xfrm>
            <a:off x="511164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205"/>
          <p:cNvSpPr/>
          <p:nvPr/>
        </p:nvSpPr>
        <p:spPr>
          <a:xfrm>
            <a:off x="542232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206"/>
          <p:cNvSpPr/>
          <p:nvPr/>
        </p:nvSpPr>
        <p:spPr>
          <a:xfrm>
            <a:off x="542232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207"/>
          <p:cNvSpPr/>
          <p:nvPr/>
        </p:nvSpPr>
        <p:spPr>
          <a:xfrm>
            <a:off x="573336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08"/>
          <p:cNvSpPr/>
          <p:nvPr/>
        </p:nvSpPr>
        <p:spPr>
          <a:xfrm>
            <a:off x="573336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209"/>
          <p:cNvSpPr/>
          <p:nvPr/>
        </p:nvSpPr>
        <p:spPr>
          <a:xfrm>
            <a:off x="604404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210"/>
          <p:cNvSpPr/>
          <p:nvPr/>
        </p:nvSpPr>
        <p:spPr>
          <a:xfrm>
            <a:off x="604404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11"/>
          <p:cNvSpPr/>
          <p:nvPr/>
        </p:nvSpPr>
        <p:spPr>
          <a:xfrm>
            <a:off x="635508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212"/>
          <p:cNvSpPr/>
          <p:nvPr/>
        </p:nvSpPr>
        <p:spPr>
          <a:xfrm>
            <a:off x="635508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213"/>
          <p:cNvSpPr/>
          <p:nvPr/>
        </p:nvSpPr>
        <p:spPr>
          <a:xfrm>
            <a:off x="666612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214"/>
          <p:cNvSpPr/>
          <p:nvPr/>
        </p:nvSpPr>
        <p:spPr>
          <a:xfrm>
            <a:off x="666612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15"/>
          <p:cNvSpPr/>
          <p:nvPr/>
        </p:nvSpPr>
        <p:spPr>
          <a:xfrm>
            <a:off x="697680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216"/>
          <p:cNvSpPr/>
          <p:nvPr/>
        </p:nvSpPr>
        <p:spPr>
          <a:xfrm>
            <a:off x="697680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17"/>
          <p:cNvSpPr/>
          <p:nvPr/>
        </p:nvSpPr>
        <p:spPr>
          <a:xfrm>
            <a:off x="7287840" y="4517280"/>
            <a:ext cx="310680" cy="310680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218"/>
          <p:cNvSpPr/>
          <p:nvPr/>
        </p:nvSpPr>
        <p:spPr>
          <a:xfrm>
            <a:off x="728784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d1d5db"/>
                </a:solidFill>
                <a:latin typeface="Consolas"/>
                <a:ea typeface="Consolas"/>
              </a:rPr>
              <a:t>0</a:t>
            </a:r>
            <a:endParaRPr b="0" lang="en-IN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19"/>
          <p:cNvSpPr/>
          <p:nvPr/>
        </p:nvSpPr>
        <p:spPr>
          <a:xfrm>
            <a:off x="7598520" y="4517280"/>
            <a:ext cx="310680" cy="31068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220"/>
          <p:cNvSpPr/>
          <p:nvPr/>
        </p:nvSpPr>
        <p:spPr>
          <a:xfrm>
            <a:off x="7598520" y="4517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-1" strike="noStrike">
                <a:solidFill>
                  <a:srgbClr val="1e2761"/>
                </a:solidFill>
                <a:latin typeface="Consolas"/>
                <a:ea typeface="Consolas"/>
              </a:rPr>
              <a:t>0.08</a:t>
            </a:r>
            <a:endParaRPr b="0" lang="en-IN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221"/>
          <p:cNvSpPr/>
          <p:nvPr/>
        </p:nvSpPr>
        <p:spPr>
          <a:xfrm>
            <a:off x="4754880" y="48463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chemeClr val="accent4">
                    <a:lumMod val="50000"/>
                  </a:schemeClr>
                </a:solidFill>
                <a:latin typeface="Calibri"/>
                <a:ea typeface="Calibri"/>
              </a:rPr>
              <a:t>Only diagonal has values — all features are now independent components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"/>
          <p:cNvSpPr/>
          <p:nvPr/>
        </p:nvSpPr>
        <p:spPr>
          <a:xfrm>
            <a:off x="0" y="0"/>
            <a:ext cx="319680" cy="514332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2"/>
          <p:cNvSpPr/>
          <p:nvPr/>
        </p:nvSpPr>
        <p:spPr>
          <a:xfrm>
            <a:off x="54864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Summary &amp; Future Work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3"/>
          <p:cNvSpPr/>
          <p:nvPr/>
        </p:nvSpPr>
        <p:spPr>
          <a:xfrm>
            <a:off x="548640" y="868680"/>
            <a:ext cx="4023000" cy="37486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4"/>
          <p:cNvSpPr/>
          <p:nvPr/>
        </p:nvSpPr>
        <p:spPr>
          <a:xfrm>
            <a:off x="685800" y="960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fc3f7"/>
                </a:solidFill>
                <a:latin typeface="Calibri"/>
                <a:ea typeface="Calibri"/>
              </a:rPr>
              <a:t>LA Concepts Used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5"/>
          <p:cNvSpPr/>
          <p:nvPr/>
        </p:nvSpPr>
        <p:spPr>
          <a:xfrm>
            <a:off x="685800" y="13899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Matrix Representation  →  Feature matrix construction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6"/>
          <p:cNvSpPr/>
          <p:nvPr/>
        </p:nvSpPr>
        <p:spPr>
          <a:xfrm>
            <a:off x="685800" y="17740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RREF  →  Identify independent features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7"/>
          <p:cNvSpPr/>
          <p:nvPr/>
        </p:nvSpPr>
        <p:spPr>
          <a:xfrm>
            <a:off x="685800" y="21578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Rank &amp; Nullity  →  Confirm no redundancy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8"/>
          <p:cNvSpPr/>
          <p:nvPr/>
        </p:nvSpPr>
        <p:spPr>
          <a:xfrm>
            <a:off x="685800" y="25419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Gram-Schmidt / QR  →  Orthogonal basis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9"/>
          <p:cNvSpPr/>
          <p:nvPr/>
        </p:nvSpPr>
        <p:spPr>
          <a:xfrm>
            <a:off x="685800" y="29260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Projection  →  User vector → car space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10"/>
          <p:cNvSpPr/>
          <p:nvPr/>
        </p:nvSpPr>
        <p:spPr>
          <a:xfrm>
            <a:off x="685800" y="33102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Least Squares  →  Best approximation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11"/>
          <p:cNvSpPr/>
          <p:nvPr/>
        </p:nvSpPr>
        <p:spPr>
          <a:xfrm>
            <a:off x="685800" y="369432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Eigenvalues  →  Pattern discovery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12"/>
          <p:cNvSpPr/>
          <p:nvPr/>
        </p:nvSpPr>
        <p:spPr>
          <a:xfrm>
            <a:off x="685800" y="40780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Diagonalization  →  System simplification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13"/>
          <p:cNvSpPr/>
          <p:nvPr/>
        </p:nvSpPr>
        <p:spPr>
          <a:xfrm>
            <a:off x="4846320" y="868680"/>
            <a:ext cx="3931560" cy="37486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14"/>
          <p:cNvSpPr/>
          <p:nvPr/>
        </p:nvSpPr>
        <p:spPr>
          <a:xfrm>
            <a:off x="4983480" y="960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fc3f7"/>
                </a:solidFill>
                <a:latin typeface="Calibri"/>
                <a:ea typeface="Calibri"/>
              </a:rPr>
              <a:t>Future Scaling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15"/>
          <p:cNvSpPr/>
          <p:nvPr/>
        </p:nvSpPr>
        <p:spPr>
          <a:xfrm>
            <a:off x="4983480" y="13899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→  </a:t>
            </a: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SVD Recommender: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16"/>
          <p:cNvSpPr/>
          <p:nvPr/>
        </p:nvSpPr>
        <p:spPr>
          <a:xfrm>
            <a:off x="4983480" y="16002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 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Matrix factorization — same tech as Netflix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17"/>
          <p:cNvSpPr/>
          <p:nvPr/>
        </p:nvSpPr>
        <p:spPr>
          <a:xfrm>
            <a:off x="4983480" y="18655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→  </a:t>
            </a: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PCA Visualization: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18"/>
          <p:cNvSpPr/>
          <p:nvPr/>
        </p:nvSpPr>
        <p:spPr>
          <a:xfrm>
            <a:off x="4983480" y="20757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 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2D scatter plot of car clusters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19"/>
          <p:cNvSpPr/>
          <p:nvPr/>
        </p:nvSpPr>
        <p:spPr>
          <a:xfrm>
            <a:off x="4983480" y="23407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→  </a:t>
            </a: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Streamlit App: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20"/>
          <p:cNvSpPr/>
          <p:nvPr/>
        </p:nvSpPr>
        <p:spPr>
          <a:xfrm>
            <a:off x="4983480" y="255132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 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Deploy as interactive web application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21"/>
          <p:cNvSpPr/>
          <p:nvPr/>
        </p:nvSpPr>
        <p:spPr>
          <a:xfrm>
            <a:off x="4983480" y="28162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→  </a:t>
            </a: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Collaborative Filter: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22"/>
          <p:cNvSpPr/>
          <p:nvPr/>
        </p:nvSpPr>
        <p:spPr>
          <a:xfrm>
            <a:off x="4983480" y="302652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 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Personalize using user rating history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23"/>
          <p:cNvSpPr/>
          <p:nvPr/>
        </p:nvSpPr>
        <p:spPr>
          <a:xfrm>
            <a:off x="4983480" y="32918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→  </a:t>
            </a:r>
            <a:r>
              <a:rPr b="1" lang="en-US" sz="1000" spc="-1" strike="noStrike">
                <a:solidFill>
                  <a:srgbClr val="4fc3f7"/>
                </a:solidFill>
                <a:latin typeface="Calibri"/>
                <a:ea typeface="Calibri"/>
              </a:rPr>
              <a:t>Richer Dataset: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24"/>
          <p:cNvSpPr/>
          <p:nvPr/>
        </p:nvSpPr>
        <p:spPr>
          <a:xfrm>
            <a:off x="4983480" y="350208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 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Add review sentiment for multi-source model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25"/>
          <p:cNvSpPr/>
          <p:nvPr/>
        </p:nvSpPr>
        <p:spPr>
          <a:xfrm>
            <a:off x="54864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accent4">
                    <a:lumMod val="50000"/>
                  </a:schemeClr>
                </a:solidFill>
                <a:latin typeface="Consolas"/>
                <a:ea typeface="Consolas"/>
              </a:rPr>
              <a:t>github.com/NitinSomisetty/Car-Recommendation-System-using-Linear-Algebra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1186</Words>
  <Paragraphs>307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2026-04-07T06:35:23Z</dcterms:created>
  <dc:creator>PptxGenJS</dc:creator>
  <dc:description/>
  <dc:language>en-IN</dc:language>
  <cp:lastModifiedBy/>
  <dcterms:modified xsi:type="dcterms:W3CDTF">2026-04-09T00:00:35Z</dcterms:modified>
  <cp:revision>4</cp:revision>
  <dc:subject>PptxGenJS Presentation</dc:subject>
  <dc:title>Vehicle Recommendation Engine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